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9640" y="1510125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9223A"/>
                </a:solidFill>
              </a:defRPr>
            </a:pPr>
            <a:r>
              <a:rPr dirty="0"/>
              <a:t>CT Scan Reconstructor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33172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704ED2"/>
                </a:solidFill>
              </a:defRPr>
            </a:pPr>
            <a:r>
              <a:t>Simplified Linear Algebra Simulation</a:t>
            </a:r>
          </a:p>
        </p:txBody>
      </p:sp>
      <p:pic>
        <p:nvPicPr>
          <p:cNvPr id="4" name="Picture 3" descr="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92643"/>
            <a:ext cx="228600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0" y="5715000"/>
            <a:ext cx="7589520" cy="502920"/>
          </a:xfrm>
          <a:prstGeom prst="roundRect">
            <a:avLst/>
          </a:prstGeom>
          <a:solidFill>
            <a:srgbClr val="704ED2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x → A → b = Ax → Rank/Nullity → Least Squares → x̂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1 — What is the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We simulate the basic mathematical idea behind CT reconstruction.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291840" cy="192024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1. Hidden object</a:t>
            </a:r>
          </a:p>
          <a:p>
            <a:pPr>
              <a:spcBef>
                <a:spcPts val="500"/>
              </a:spcBef>
              <a:defRPr sz="1400">
                <a:solidFill>
                  <a:srgbClr val="30343F"/>
                </a:solidFill>
              </a:defRPr>
            </a:pPr>
            <a:r>
              <a:t>A CT scanner wants information about what is inside an object/body.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23360" y="2286000"/>
            <a:ext cx="640080" cy="0"/>
          </a:xfrm>
          <a:prstGeom prst="line">
            <a:avLst/>
          </a:prstGeom>
          <a:ln w="38100">
            <a:solidFill>
              <a:srgbClr val="704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846320" y="1325880"/>
            <a:ext cx="2743200" cy="192024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2. Measurements</a:t>
            </a:r>
          </a:p>
          <a:p>
            <a:pPr>
              <a:spcBef>
                <a:spcPts val="500"/>
              </a:spcBef>
              <a:defRPr sz="1400">
                <a:solidFill>
                  <a:srgbClr val="30343F"/>
                </a:solidFill>
              </a:defRPr>
            </a:pPr>
            <a:r>
              <a:t>X-rays pass through from different directions and produce measurements.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26679" y="2286000"/>
            <a:ext cx="640081" cy="0"/>
          </a:xfrm>
          <a:prstGeom prst="line">
            <a:avLst/>
          </a:prstGeom>
          <a:ln w="38100">
            <a:solidFill>
              <a:srgbClr val="31B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549640" y="1325880"/>
            <a:ext cx="3017520" cy="1920240"/>
          </a:xfrm>
          <a:prstGeom prst="roundRect">
            <a:avLst/>
          </a:prstGeom>
          <a:solidFill>
            <a:srgbClr val="E7F7EE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3. Reconstruction</a:t>
            </a:r>
          </a:p>
          <a:p>
            <a:pPr>
              <a:spcBef>
                <a:spcPts val="500"/>
              </a:spcBef>
              <a:defRPr sz="1400">
                <a:solidFill>
                  <a:srgbClr val="30343F"/>
                </a:solidFill>
              </a:defRPr>
            </a:pPr>
            <a:r>
              <a:t>Use those measurements to estimate the internal image.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160520"/>
            <a:ext cx="9875520" cy="1188720"/>
          </a:xfrm>
          <a:prstGeom prst="roundRect">
            <a:avLst/>
          </a:prstGeom>
          <a:solidFill>
            <a:srgbClr val="FFF7DC"/>
          </a:solidFill>
          <a:ln>
            <a:solidFill>
              <a:srgbClr val="F1B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Our simplified demo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We use a small 8×8 test object instead of a real patient scan so the linear algebra is easy to see.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1 — Our simple 8×8 test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Each small square is one pixel/value.</a:t>
            </a:r>
          </a:p>
        </p:txBody>
      </p:sp>
      <p:pic>
        <p:nvPicPr>
          <p:cNvPr id="4" name="Picture 3" descr="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420624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508760"/>
            <a:ext cx="5303520" cy="118872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Why a square?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It makes every measurement easy to understand and calculate.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971800"/>
            <a:ext cx="5303520" cy="118872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Pixel values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0 = black/background     •     1 = white/object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434840"/>
            <a:ext cx="5303520" cy="1188720"/>
          </a:xfrm>
          <a:prstGeom prst="roundRect">
            <a:avLst/>
          </a:prstGeom>
          <a:solidFill>
            <a:srgbClr val="FFF7DC"/>
          </a:solidFill>
          <a:ln>
            <a:solidFill>
              <a:srgbClr val="F1B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Theory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8 × 8 = 64 pixel values. These are the unknowns we later try to reconstruct.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5897880"/>
            <a:ext cx="2926080" cy="502920"/>
          </a:xfrm>
          <a:prstGeom prst="roundRect">
            <a:avLst/>
          </a:prstGeom>
          <a:solidFill>
            <a:srgbClr val="704ED2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OUTPUT → 8×8 test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2 — Image → vector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Linear algebra represents the image as numbers in a vector.</a:t>
            </a:r>
          </a:p>
        </p:txBody>
      </p:sp>
      <p:pic>
        <p:nvPicPr>
          <p:cNvPr id="4" name="Picture 3" descr="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474720" cy="347472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343400" y="3154680"/>
            <a:ext cx="914400" cy="0"/>
          </a:xfrm>
          <a:prstGeom prst="line">
            <a:avLst/>
          </a:prstGeom>
          <a:ln w="38100">
            <a:solidFill>
              <a:srgbClr val="EB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0" y="1417320"/>
            <a:ext cx="5303520" cy="1234440"/>
          </a:xfrm>
          <a:prstGeom prst="roundRect">
            <a:avLst/>
          </a:prstGeom>
          <a:solidFill>
            <a:srgbClr val="FFEBF4"/>
          </a:solidFill>
          <a:ln>
            <a:solidFill>
              <a:srgbClr val="E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Flatten the image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Write all 64 pixel values one after another.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971800"/>
            <a:ext cx="5303520" cy="123444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What is x?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x is the mathematical representation of the image we want to recover.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4754880"/>
            <a:ext cx="2743200" cy="502920"/>
          </a:xfrm>
          <a:prstGeom prst="roundRect">
            <a:avLst/>
          </a:prstGeom>
          <a:solidFill>
            <a:srgbClr val="EB5C96"/>
          </a:solidFill>
          <a:ln>
            <a:solidFill>
              <a:srgbClr val="E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x = 64 ×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5623560"/>
            <a:ext cx="8321040" cy="731520"/>
          </a:xfrm>
          <a:prstGeom prst="roundRect">
            <a:avLst/>
          </a:prstGeom>
          <a:solidFill>
            <a:srgbClr val="ECEEF3"/>
          </a:solidFill>
          <a:ln>
            <a:solidFill>
              <a:srgbClr val="19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19223A"/>
                </a:solidFill>
              </a:defRPr>
            </a:pPr>
            <a:r>
              <a:t>Nothing is lost</a:t>
            </a:r>
          </a:p>
          <a:p>
            <a:pPr>
              <a:spcBef>
                <a:spcPts val="500"/>
              </a:spcBef>
              <a:defRPr sz="1300">
                <a:solidFill>
                  <a:srgbClr val="30343F"/>
                </a:solidFill>
              </a:defRPr>
            </a:pPr>
            <a:r>
              <a:t>The 8×8 layout changes into a vector, but the same 64 values are still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2 — Measurement matrix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A describes how our simulated scan takes line measurements.</a:t>
            </a:r>
          </a:p>
        </p:txBody>
      </p:sp>
      <p:pic>
        <p:nvPicPr>
          <p:cNvPr id="4" name="Picture 3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035040" cy="29435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12280" y="1371600"/>
            <a:ext cx="4572000" cy="109728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Each row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one line measurement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697480"/>
            <a:ext cx="4572000" cy="1097280"/>
          </a:xfrm>
          <a:prstGeom prst="roundRect">
            <a:avLst/>
          </a:prstGeom>
          <a:solidFill>
            <a:srgbClr val="FFEBF4"/>
          </a:solidFill>
          <a:ln>
            <a:solidFill>
              <a:srgbClr val="E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Each column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one of the 64 pixels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4023360"/>
            <a:ext cx="4572000" cy="1097280"/>
          </a:xfrm>
          <a:prstGeom prst="roundRect">
            <a:avLst/>
          </a:prstGeom>
          <a:solidFill>
            <a:srgbClr val="FFF7DC"/>
          </a:solidFill>
          <a:ln>
            <a:solidFill>
              <a:srgbClr val="F1B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Lines used</a:t>
            </a:r>
          </a:p>
          <a:p>
            <a:pPr>
              <a:spcBef>
                <a:spcPts val="500"/>
              </a:spcBef>
              <a:defRPr sz="1400">
                <a:solidFill>
                  <a:srgbClr val="30343F"/>
                </a:solidFill>
              </a:defRPr>
            </a:pPr>
            <a:r>
              <a:t>horizontal + vertical + diagonal directions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532120"/>
            <a:ext cx="2926080" cy="502920"/>
          </a:xfrm>
          <a:prstGeom prst="roundRect">
            <a:avLst/>
          </a:prstGeom>
          <a:solidFill>
            <a:srgbClr val="31B5D2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 = 46 × 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3 — Simulated scan: b = 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This is the main equation of our project.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154680" cy="155448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2100" b="1">
                <a:solidFill>
                  <a:srgbClr val="19223A"/>
                </a:solidFill>
              </a:defRPr>
            </a:pPr>
            <a:r>
              <a:t>A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Which pixels does each scan line use?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417320"/>
            <a:ext cx="3154680" cy="1554480"/>
          </a:xfrm>
          <a:prstGeom prst="roundRect">
            <a:avLst/>
          </a:prstGeom>
          <a:solidFill>
            <a:srgbClr val="FFEBF4"/>
          </a:solidFill>
          <a:ln>
            <a:solidFill>
              <a:srgbClr val="E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2100" b="1">
                <a:solidFill>
                  <a:srgbClr val="19223A"/>
                </a:solidFill>
              </a:defRPr>
            </a:pPr>
            <a:r>
              <a:t>x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What value does each pixel have?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417320"/>
            <a:ext cx="3154680" cy="155448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2100" b="1">
                <a:solidFill>
                  <a:srgbClr val="19223A"/>
                </a:solidFill>
              </a:defRPr>
            </a:pPr>
            <a:r>
              <a:t>b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What line measurement is produced?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474720"/>
            <a:ext cx="2651760" cy="502920"/>
          </a:xfrm>
          <a:prstGeom prst="roundRect">
            <a:avLst/>
          </a:prstGeom>
          <a:solidFill>
            <a:srgbClr val="31B5D2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b = A 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572000"/>
            <a:ext cx="9875520" cy="1097280"/>
          </a:xfrm>
          <a:prstGeom prst="roundRect">
            <a:avLst/>
          </a:prstGeom>
          <a:solidFill>
            <a:srgbClr val="ECEEF3"/>
          </a:solidFill>
          <a:ln>
            <a:solidFill>
              <a:srgbClr val="19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Dimensions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(46 × 64) × (64 × 1) = (46 × 1)  →  b contains 46 measurements.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3 — One measurement, visually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A line measurement is simply the sum of the pixel values it crosses.</a:t>
            </a:r>
          </a:p>
        </p:txBody>
      </p:sp>
      <p:pic>
        <p:nvPicPr>
          <p:cNvPr id="4" name="Picture 3" descr="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943600" cy="13782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417320"/>
            <a:ext cx="4389120" cy="1143000"/>
          </a:xfrm>
          <a:prstGeom prst="roundRect">
            <a:avLst/>
          </a:prstGeom>
          <a:solidFill>
            <a:srgbClr val="FFF7DC"/>
          </a:solidFill>
          <a:ln>
            <a:solidFill>
              <a:srgbClr val="F1B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Line crosses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0, 0, 1, 1, 1, 1, 0, 0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2834640"/>
            <a:ext cx="4389120" cy="114300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Add them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0 + 0 + 1 + 1 + 1 + 1 + 0 + 0 =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4343400"/>
            <a:ext cx="2926080" cy="502920"/>
          </a:xfrm>
          <a:prstGeom prst="roundRect">
            <a:avLst/>
          </a:prstGeom>
          <a:solidFill>
            <a:srgbClr val="31B5D2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One value of b = 4</a:t>
            </a:r>
          </a:p>
        </p:txBody>
      </p:sp>
      <p:pic>
        <p:nvPicPr>
          <p:cNvPr id="8" name="Picture 7" descr="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663440"/>
            <a:ext cx="4297680" cy="209613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29400" y="5029200"/>
            <a:ext cx="4572000" cy="82296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19223A"/>
                </a:solidFill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300">
                <a:solidFill>
                  <a:srgbClr val="30343F"/>
                </a:solidFill>
              </a:defRPr>
            </a:pPr>
            <a:r>
              <a:t>Repeat for all lines → b = 46×1.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4 — 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How much independent information is present in 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754880" cy="201168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2000" b="1">
                <a:solidFill>
                  <a:srgbClr val="19223A"/>
                </a:solidFill>
              </a:defRPr>
            </a:pPr>
            <a:r>
              <a:t>RANK — simple meaning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Rank tells us how much independent/useful information our measurement matrix contains.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3794760"/>
            <a:ext cx="2743200" cy="502920"/>
          </a:xfrm>
          <a:prstGeom prst="roundRect">
            <a:avLst/>
          </a:prstGeom>
          <a:solidFill>
            <a:srgbClr val="704ED2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Rank(A) = 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17320"/>
            <a:ext cx="5212080" cy="288036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2000" b="1">
                <a:solidFill>
                  <a:srgbClr val="19223A"/>
                </a:solidFill>
              </a:defRPr>
            </a:pPr>
            <a:r>
              <a:t>Why not 46?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We have 46 measurements, but some contain overlapping/dependent information. So only 39 are independent in this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74920"/>
            <a:ext cx="8503920" cy="914400"/>
          </a:xfrm>
          <a:prstGeom prst="roundRect">
            <a:avLst/>
          </a:prstGeom>
          <a:solidFill>
            <a:srgbClr val="ECEEF3"/>
          </a:solidFill>
          <a:ln>
            <a:solidFill>
              <a:srgbClr val="19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700" b="1">
                <a:solidFill>
                  <a:srgbClr val="19223A"/>
                </a:solidFill>
              </a:defRPr>
            </a:pPr>
            <a:r>
              <a:t>Theory</a:t>
            </a:r>
          </a:p>
          <a:p>
            <a:pPr>
              <a:spcBef>
                <a:spcPts val="500"/>
              </a:spcBef>
              <a:defRPr sz="1400">
                <a:solidFill>
                  <a:srgbClr val="30343F"/>
                </a:solidFill>
              </a:defRPr>
            </a:pPr>
            <a:r>
              <a:t>More measurements do not automatically mean the same number of independent pieces of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4 — Nullity &amp; underdetermined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This explains why reconstruction is not a simple exact reversal.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00400" cy="1920240"/>
          </a:xfrm>
          <a:prstGeom prst="roundRect">
            <a:avLst/>
          </a:prstGeom>
          <a:solidFill>
            <a:srgbClr val="FFEBF4"/>
          </a:solidFill>
          <a:ln>
            <a:solidFill>
              <a:srgbClr val="E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2000" b="1">
                <a:solidFill>
                  <a:srgbClr val="19223A"/>
                </a:solidFill>
              </a:defRPr>
            </a:pPr>
            <a:r>
              <a:t>NULLITY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Information that is not uniquely determined by the measurements.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657600"/>
            <a:ext cx="2377440" cy="502920"/>
          </a:xfrm>
          <a:prstGeom prst="roundRect">
            <a:avLst/>
          </a:prstGeom>
          <a:solidFill>
            <a:srgbClr val="EB5C96"/>
          </a:solidFill>
          <a:ln>
            <a:solidFill>
              <a:srgbClr val="E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64 − 39 =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71600"/>
            <a:ext cx="3200400" cy="1920240"/>
          </a:xfrm>
          <a:prstGeom prst="roundRect">
            <a:avLst/>
          </a:prstGeom>
          <a:solidFill>
            <a:srgbClr val="FFF7DC"/>
          </a:solidFill>
          <a:ln>
            <a:solidFill>
              <a:srgbClr val="F1B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UNDERDETERMINED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We have 64 unknown pixel values but only 39 independent pieces of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00400" cy="1920240"/>
          </a:xfrm>
          <a:prstGeom prst="roundRect">
            <a:avLst/>
          </a:prstGeom>
          <a:solidFill>
            <a:srgbClr val="E7F7EE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SO WHAT?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There is not one obvious unique x. We need a suitable estimate.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80960" y="4434840"/>
            <a:ext cx="1051560" cy="0"/>
          </a:xfrm>
          <a:prstGeom prst="line">
            <a:avLst/>
          </a:prstGeom>
          <a:ln w="38100">
            <a:solidFill>
              <a:srgbClr val="3EA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869680" y="4187952"/>
            <a:ext cx="2331720" cy="502920"/>
          </a:xfrm>
          <a:prstGeom prst="roundRect">
            <a:avLst/>
          </a:prstGeom>
          <a:solidFill>
            <a:srgbClr val="3EA674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NEXT → Least Squares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257800"/>
            <a:ext cx="6126480" cy="777240"/>
          </a:xfrm>
          <a:prstGeom prst="roundRect">
            <a:avLst/>
          </a:prstGeom>
          <a:solidFill>
            <a:srgbClr val="ECEEF3"/>
          </a:solidFill>
          <a:ln>
            <a:solidFill>
              <a:srgbClr val="19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19223A"/>
                </a:solidFill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300">
                <a:solidFill>
                  <a:srgbClr val="30343F"/>
                </a:solidFill>
              </a:defRPr>
            </a:pPr>
            <a:r>
              <a:t>Rank = 39, Nullity = 25 → system is underdetermined.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5 — Least Squares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We now try to reconstruct the unknown image using only A and 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971800" cy="155448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73152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WHAT WE HAVE</a:t>
            </a:r>
          </a:p>
          <a:p>
            <a:pPr>
              <a:spcBef>
                <a:spcPts val="400"/>
              </a:spcBef>
              <a:defRPr sz="1400">
                <a:solidFill>
                  <a:srgbClr val="30343F"/>
                </a:solidFill>
              </a:defRPr>
            </a:pPr>
            <a:r>
              <a:t>A = how the line measurements were taken</a:t>
            </a:r>
            <a:br/>
            <a:r>
              <a:t>b = the 46 measurements obtained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3320" y="2103120"/>
            <a:ext cx="731520" cy="0"/>
          </a:xfrm>
          <a:prstGeom prst="line">
            <a:avLst/>
          </a:prstGeom>
          <a:ln w="38100">
            <a:solidFill>
              <a:srgbClr val="3EA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617720" y="1325880"/>
            <a:ext cx="2971800" cy="1554480"/>
          </a:xfrm>
          <a:prstGeom prst="roundRect">
            <a:avLst/>
          </a:prstGeom>
          <a:solidFill>
            <a:srgbClr val="E7F7EE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73152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WHAT WE WANT</a:t>
            </a:r>
          </a:p>
          <a:p>
            <a:pPr>
              <a:spcBef>
                <a:spcPts val="400"/>
              </a:spcBef>
              <a:defRPr sz="1500">
                <a:solidFill>
                  <a:srgbClr val="30343F"/>
                </a:solidFill>
              </a:defRPr>
            </a:pPr>
            <a:r>
              <a:t>Recover the unknown 64 pixel values of x.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26679" y="2103120"/>
            <a:ext cx="731521" cy="0"/>
          </a:xfrm>
          <a:prstGeom prst="line">
            <a:avLst/>
          </a:prstGeom>
          <a:ln w="38100">
            <a:solidFill>
              <a:srgbClr val="3EA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641080" y="1325880"/>
            <a:ext cx="2926080" cy="155448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73152" rtlCol="0" anchor="ctr"/>
          <a:lstStyle/>
          <a:p>
            <a:pPr algn="ctr">
              <a:defRPr sz="1900" b="1">
                <a:solidFill>
                  <a:srgbClr val="19223A"/>
                </a:solidFill>
              </a:defRPr>
            </a:pPr>
            <a:r>
              <a:t>OUR ESTIMATE</a:t>
            </a:r>
          </a:p>
          <a:p>
            <a:pPr>
              <a:spcBef>
                <a:spcPts val="400"/>
              </a:spcBef>
              <a:defRPr sz="1400">
                <a:solidFill>
                  <a:srgbClr val="30343F"/>
                </a:solidFill>
              </a:defRPr>
            </a:pPr>
            <a:r>
              <a:t>The reconstructed vector is called x̂ (x-hat).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3337560"/>
            <a:ext cx="2743200" cy="502920"/>
          </a:xfrm>
          <a:prstGeom prst="roundRect">
            <a:avLst/>
          </a:prstGeom>
          <a:solidFill>
            <a:srgbClr val="3EA674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A x̂ ≈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60520"/>
            <a:ext cx="5212080" cy="1234440"/>
          </a:xfrm>
          <a:prstGeom prst="roundRect">
            <a:avLst/>
          </a:prstGeom>
          <a:solidFill>
            <a:srgbClr val="ECEEF3"/>
          </a:solidFill>
          <a:ln>
            <a:solidFill>
              <a:srgbClr val="19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73152" rtlCol="0" anchor="ctr"/>
          <a:lstStyle/>
          <a:p>
            <a:pPr algn="ctr">
              <a:defRPr sz="1700" b="1">
                <a:solidFill>
                  <a:srgbClr val="19223A"/>
                </a:solidFill>
              </a:defRPr>
            </a:pPr>
            <a:r>
              <a:t>Why Least Squares?</a:t>
            </a:r>
          </a:p>
          <a:p>
            <a:pPr>
              <a:spcBef>
                <a:spcPts val="400"/>
              </a:spcBef>
              <a:defRPr sz="1400">
                <a:solidFill>
                  <a:srgbClr val="30343F"/>
                </a:solidFill>
              </a:defRPr>
            </a:pPr>
            <a:r>
              <a:t>A is 46×64 and the system is underdetermined, so we cannot simply invert A to get one unique 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160520"/>
            <a:ext cx="5074920" cy="1234440"/>
          </a:xfrm>
          <a:prstGeom prst="roundRect">
            <a:avLst/>
          </a:prstGeom>
          <a:solidFill>
            <a:srgbClr val="FFF7DC"/>
          </a:solidFill>
          <a:ln>
            <a:solidFill>
              <a:srgbClr val="F1B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73152" rtlCol="0" anchor="ctr"/>
          <a:lstStyle/>
          <a:p>
            <a:pPr algn="ctr">
              <a:defRPr sz="1700" b="1">
                <a:solidFill>
                  <a:srgbClr val="19223A"/>
                </a:solidFill>
              </a:defRPr>
            </a:pPr>
            <a:r>
              <a:t>Simple meaning</a:t>
            </a:r>
          </a:p>
          <a:p>
            <a:pPr>
              <a:spcBef>
                <a:spcPts val="400"/>
              </a:spcBef>
              <a:defRPr sz="1400">
                <a:solidFill>
                  <a:srgbClr val="30343F"/>
                </a:solidFill>
              </a:defRPr>
            </a:pPr>
            <a:r>
              <a:t>Least squares chooses a suitable x̂ whose predicted measurements A x̂ agree with b as closely as 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5806440"/>
            <a:ext cx="5440680" cy="502920"/>
          </a:xfrm>
          <a:prstGeom prst="roundRect">
            <a:avLst/>
          </a:prstGeom>
          <a:solidFill>
            <a:srgbClr val="3EA674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OUTPUT → x̂ = 64 × 1 estimated pixel values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Topic 5 — From x̂ to the final reconstructed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For our square input, the final step converts the estimated values back to clear 0s and 1s.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11579"/>
            <a:ext cx="3429000" cy="452628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73152" rtlCol="0" anchor="ctr"/>
          <a:lstStyle/>
          <a:p>
            <a:pPr algn="ctr">
              <a:defRPr sz="1700" b="1">
                <a:solidFill>
                  <a:srgbClr val="19223A"/>
                </a:solidFill>
              </a:defRPr>
            </a:pPr>
            <a:r>
              <a:t>1. ORIGINAL TEST OBJECT</a:t>
            </a:r>
          </a:p>
          <a:p>
            <a:pPr>
              <a:spcBef>
                <a:spcPts val="400"/>
              </a:spcBef>
              <a:defRPr sz="1300">
                <a:solidFill>
                  <a:srgbClr val="30343F"/>
                </a:solidFill>
              </a:defRPr>
            </a:pPr>
            <a:r>
              <a:t>Known only for checking whether our reconstruction worked.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79" y="1280161"/>
            <a:ext cx="1771480" cy="1771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60059" y="4480560"/>
            <a:ext cx="1828800" cy="502920"/>
          </a:xfrm>
          <a:prstGeom prst="roundRect">
            <a:avLst/>
          </a:prstGeom>
          <a:solidFill>
            <a:srgbClr val="704ED2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8 × 8 square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13632" y="3429000"/>
            <a:ext cx="402336" cy="0"/>
          </a:xfrm>
          <a:prstGeom prst="line">
            <a:avLst/>
          </a:prstGeom>
          <a:ln w="38100">
            <a:solidFill>
              <a:srgbClr val="19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05016" y="1165860"/>
            <a:ext cx="3429000" cy="452628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73152" rtlCol="0" anchor="ctr"/>
          <a:lstStyle/>
          <a:p>
            <a:pPr algn="ctr">
              <a:defRPr sz="1700" b="1">
                <a:solidFill>
                  <a:srgbClr val="19223A"/>
                </a:solidFill>
              </a:defRPr>
            </a:pPr>
            <a:r>
              <a:t>2. LEAST-SQUARES RESULT</a:t>
            </a:r>
          </a:p>
          <a:p>
            <a:pPr>
              <a:spcBef>
                <a:spcPts val="400"/>
              </a:spcBef>
              <a:defRPr sz="1200">
                <a:solidFill>
                  <a:srgbClr val="30343F"/>
                </a:solidFill>
              </a:defRPr>
            </a:pPr>
            <a:r>
              <a:t>x̂ contains estimated pixel values. Because the system is underdetermined, some values appear grey instead of exactly 0 or 1.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424" y="1252728"/>
            <a:ext cx="1744184" cy="1744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952431" y="4560399"/>
            <a:ext cx="2148840" cy="502920"/>
          </a:xfrm>
          <a:prstGeom prst="roundRect">
            <a:avLst/>
          </a:prstGeom>
          <a:solidFill>
            <a:srgbClr val="31B5D2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raw reconstructed x̂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82127" y="3429000"/>
            <a:ext cx="402337" cy="0"/>
          </a:xfrm>
          <a:prstGeom prst="line">
            <a:avLst/>
          </a:prstGeom>
          <a:ln w="38100">
            <a:solidFill>
              <a:srgbClr val="19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12794" y="1060704"/>
            <a:ext cx="3429000" cy="4526280"/>
          </a:xfrm>
          <a:prstGeom prst="roundRect">
            <a:avLst/>
          </a:prstGeom>
          <a:solidFill>
            <a:srgbClr val="E7F7EE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73152" rtlCol="0" anchor="ctr"/>
          <a:lstStyle/>
          <a:p>
            <a:pPr algn="ctr">
              <a:defRPr sz="1700" b="1">
                <a:solidFill>
                  <a:srgbClr val="19223A"/>
                </a:solidFill>
              </a:defRPr>
            </a:pPr>
            <a:r>
              <a:t>3. THRESHOLD → FINAL</a:t>
            </a:r>
          </a:p>
          <a:p>
            <a:pPr>
              <a:spcBef>
                <a:spcPts val="400"/>
              </a:spcBef>
              <a:defRPr sz="1200">
                <a:solidFill>
                  <a:srgbClr val="30343F"/>
                </a:solidFill>
              </a:defRPr>
            </a:pPr>
            <a:r>
              <a:t>Our test object is binary. So values &gt; 0.5 become 1 (white), and values ≤ 0.5 become 0 (black).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373" y="1139975"/>
            <a:ext cx="1766588" cy="176658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067174" y="4560399"/>
            <a:ext cx="1920240" cy="502920"/>
          </a:xfrm>
          <a:prstGeom prst="roundRect">
            <a:avLst/>
          </a:prstGeom>
          <a:solidFill>
            <a:srgbClr val="3EA674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final 8 × 8 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6035040"/>
            <a:ext cx="5486400" cy="502920"/>
          </a:xfrm>
          <a:prstGeom prst="roundRect">
            <a:avLst/>
          </a:prstGeom>
          <a:solidFill>
            <a:srgbClr val="3EA674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FINAL RESULT → reconstructed square matches the original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23A"/>
                </a:solidFill>
              </a:defRPr>
            </a:pPr>
            <a:r>
              <a:t>Complete project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6868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4ED2"/>
                </a:solidFill>
              </a:defRPr>
            </a:pPr>
            <a:r>
              <a:t>Each topic produces the input needed by the next topic.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2011680" cy="1645920"/>
          </a:xfrm>
          <a:prstGeom prst="roundRect">
            <a:avLst/>
          </a:prstGeom>
          <a:solidFill>
            <a:srgbClr val="EFEBFF"/>
          </a:solidFill>
          <a:ln>
            <a:solidFill>
              <a:srgbClr val="704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500" b="1">
                <a:solidFill>
                  <a:srgbClr val="19223A"/>
                </a:solidFill>
              </a:defRPr>
            </a:pPr>
            <a:r>
              <a:t>TOPIC 1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8×8 image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95728" y="2651760"/>
            <a:ext cx="228600" cy="0"/>
          </a:xfrm>
          <a:prstGeom prst="line">
            <a:avLst/>
          </a:prstGeom>
          <a:ln w="38100">
            <a:solidFill>
              <a:srgbClr val="19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97479" y="1828800"/>
            <a:ext cx="2011680" cy="1645920"/>
          </a:xfrm>
          <a:prstGeom prst="roundRect">
            <a:avLst/>
          </a:prstGeom>
          <a:solidFill>
            <a:srgbClr val="FFEBF4"/>
          </a:solidFill>
          <a:ln>
            <a:solidFill>
              <a:srgbClr val="EB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500" b="1">
                <a:solidFill>
                  <a:srgbClr val="19223A"/>
                </a:solidFill>
              </a:defRPr>
            </a:pPr>
            <a:r>
              <a:t>TOPIC 2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x + 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27448" y="2651760"/>
            <a:ext cx="228600" cy="0"/>
          </a:xfrm>
          <a:prstGeom prst="line">
            <a:avLst/>
          </a:prstGeom>
          <a:ln w="38100">
            <a:solidFill>
              <a:srgbClr val="19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0" y="1828800"/>
            <a:ext cx="2011680" cy="1645920"/>
          </a:xfrm>
          <a:prstGeom prst="roundRect">
            <a:avLst/>
          </a:prstGeom>
          <a:solidFill>
            <a:srgbClr val="E5F8FB"/>
          </a:solidFill>
          <a:ln>
            <a:solidFill>
              <a:srgbClr val="31B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500" b="1">
                <a:solidFill>
                  <a:srgbClr val="19223A"/>
                </a:solidFill>
              </a:defRPr>
            </a:pPr>
            <a:r>
              <a:t>TOPIC 3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b = Ax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59168" y="2651760"/>
            <a:ext cx="228600" cy="0"/>
          </a:xfrm>
          <a:prstGeom prst="line">
            <a:avLst/>
          </a:prstGeom>
          <a:ln w="38100">
            <a:solidFill>
              <a:srgbClr val="19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60919" y="1828800"/>
            <a:ext cx="2011680" cy="1645920"/>
          </a:xfrm>
          <a:prstGeom prst="roundRect">
            <a:avLst/>
          </a:prstGeom>
          <a:solidFill>
            <a:srgbClr val="FFF7DC"/>
          </a:solidFill>
          <a:ln>
            <a:solidFill>
              <a:srgbClr val="F1B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500" b="1">
                <a:solidFill>
                  <a:srgbClr val="19223A"/>
                </a:solidFill>
              </a:defRPr>
            </a:pPr>
            <a:r>
              <a:t>TOPIC 4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Rank + Nullity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90888" y="2651760"/>
            <a:ext cx="228600" cy="0"/>
          </a:xfrm>
          <a:prstGeom prst="line">
            <a:avLst/>
          </a:prstGeom>
          <a:ln w="38100">
            <a:solidFill>
              <a:srgbClr val="19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92640" y="1828800"/>
            <a:ext cx="2011680" cy="1645920"/>
          </a:xfrm>
          <a:prstGeom prst="roundRect">
            <a:avLst/>
          </a:prstGeom>
          <a:solidFill>
            <a:srgbClr val="E7F7EE"/>
          </a:solidFill>
          <a:ln>
            <a:solidFill>
              <a:srgbClr val="3EA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500" b="1">
                <a:solidFill>
                  <a:srgbClr val="19223A"/>
                </a:solidFill>
              </a:defRPr>
            </a:pPr>
            <a:r>
              <a:t>TOPIC 5</a:t>
            </a:r>
          </a:p>
          <a:p>
            <a:pPr>
              <a:spcBef>
                <a:spcPts val="500"/>
              </a:spcBef>
              <a:defRPr sz="1600">
                <a:solidFill>
                  <a:srgbClr val="30343F"/>
                </a:solidFill>
              </a:defRPr>
            </a:pPr>
            <a:r>
              <a:t>x̂ →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10332720" cy="1188720"/>
          </a:xfrm>
          <a:prstGeom prst="roundRect">
            <a:avLst/>
          </a:prstGeom>
          <a:solidFill>
            <a:srgbClr val="ECEEF3"/>
          </a:solidFill>
          <a:ln>
            <a:solidFill>
              <a:srgbClr val="19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800" b="1">
                <a:solidFill>
                  <a:srgbClr val="19223A"/>
                </a:solidFill>
              </a:defRPr>
            </a:pPr>
            <a:r>
              <a:t>One-line story</a:t>
            </a:r>
          </a:p>
          <a:p>
            <a:pPr>
              <a:spcBef>
                <a:spcPts val="500"/>
              </a:spcBef>
              <a:defRPr sz="1500">
                <a:solidFill>
                  <a:srgbClr val="30343F"/>
                </a:solidFill>
              </a:defRPr>
            </a:pPr>
            <a:r>
              <a:t>Represent the object as x → simulate line measurements with A → obtain b → study information using rank/nullity → estimate x using least squares → reconstruct the image.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A65B5D-9098-EDAF-6154-4558BD32BC09}"/>
              </a:ext>
            </a:extLst>
          </p:cNvPr>
          <p:cNvSpPr txBox="1"/>
          <p:nvPr/>
        </p:nvSpPr>
        <p:spPr>
          <a:xfrm>
            <a:off x="1624084" y="1098645"/>
            <a:ext cx="79020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Vanshika </a:t>
            </a:r>
            <a:r>
              <a:rPr lang="en-US" dirty="0" err="1"/>
              <a:t>kakumanu</a:t>
            </a:r>
            <a:endParaRPr lang="en-US" dirty="0"/>
          </a:p>
          <a:p>
            <a:r>
              <a:rPr lang="en-US" dirty="0"/>
              <a:t>PES1UG25AM437</a:t>
            </a:r>
          </a:p>
          <a:p>
            <a:endParaRPr lang="en-US" dirty="0"/>
          </a:p>
          <a:p>
            <a:r>
              <a:rPr lang="en-US" dirty="0"/>
              <a:t>Srujana S Ravi</a:t>
            </a:r>
          </a:p>
          <a:p>
            <a:r>
              <a:rPr lang="en-US" dirty="0"/>
              <a:t>PES1UG25AM407</a:t>
            </a:r>
          </a:p>
          <a:p>
            <a:endParaRPr lang="en-US" dirty="0"/>
          </a:p>
          <a:p>
            <a:r>
              <a:rPr lang="en-US" dirty="0"/>
              <a:t>Sinchana M</a:t>
            </a:r>
          </a:p>
          <a:p>
            <a:r>
              <a:rPr lang="en-US" dirty="0"/>
              <a:t>PES1UG25AM396</a:t>
            </a:r>
          </a:p>
          <a:p>
            <a:endParaRPr lang="en-US" dirty="0"/>
          </a:p>
          <a:p>
            <a:r>
              <a:rPr lang="en-US" dirty="0"/>
              <a:t>Tanisha Patro</a:t>
            </a:r>
          </a:p>
          <a:p>
            <a:r>
              <a:rPr lang="en-US" dirty="0"/>
              <a:t>PES1UG25AM423</a:t>
            </a:r>
          </a:p>
          <a:p>
            <a:endParaRPr lang="en-US" dirty="0"/>
          </a:p>
          <a:p>
            <a:r>
              <a:rPr lang="en-US"/>
              <a:t>Thushara Lakshmi </a:t>
            </a:r>
            <a:r>
              <a:rPr lang="en-US" dirty="0"/>
              <a:t>N</a:t>
            </a:r>
          </a:p>
          <a:p>
            <a:r>
              <a:rPr lang="en-US" dirty="0"/>
              <a:t>PES1UG26AM821</a:t>
            </a:r>
          </a:p>
        </p:txBody>
      </p:sp>
    </p:spTree>
    <p:extLst>
      <p:ext uri="{BB962C8B-B14F-4D97-AF65-F5344CB8AC3E}">
        <p14:creationId xmlns:p14="http://schemas.microsoft.com/office/powerpoint/2010/main" val="236391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2457</TotalTime>
  <Words>933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Vanshika k</dc:creator>
  <cp:keywords/>
  <dc:description>generated using python-pptx</dc:description>
  <cp:lastModifiedBy>Vanshika k</cp:lastModifiedBy>
  <cp:revision>3</cp:revision>
  <dcterms:created xsi:type="dcterms:W3CDTF">2013-01-27T09:14:16Z</dcterms:created>
  <dcterms:modified xsi:type="dcterms:W3CDTF">2026-10-11T09:43:53Z</dcterms:modified>
  <cp:category/>
</cp:coreProperties>
</file>